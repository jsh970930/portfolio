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AB2-FBE8-45E5-AADE-76303D56EB1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ECF50-AF0B-4128-A74E-58563BC137F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1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AB2-FBE8-45E5-AADE-76303D56EB1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ECF50-AF0B-4128-A74E-58563BC137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580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AB2-FBE8-45E5-AADE-76303D56EB1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ECF50-AF0B-4128-A74E-58563BC137F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93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AB2-FBE8-45E5-AADE-76303D56EB1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ECF50-AF0B-4128-A74E-58563BC137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438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AB2-FBE8-45E5-AADE-76303D56EB1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ECF50-AF0B-4128-A74E-58563BC137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831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AB2-FBE8-45E5-AADE-76303D56EB1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ECF50-AF0B-4128-A74E-58563BC137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848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AB2-FBE8-45E5-AADE-76303D56EB1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ECF50-AF0B-4128-A74E-58563BC137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191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1789AB2-FBE8-45E5-AADE-76303D56EB1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AECF50-AF0B-4128-A74E-58563BC137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075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AB2-FBE8-45E5-AADE-76303D56EB1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ECF50-AF0B-4128-A74E-58563BC137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243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AB2-FBE8-45E5-AADE-76303D56EB1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ECF50-AF0B-4128-A74E-58563BC137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034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AB2-FBE8-45E5-AADE-76303D56EB1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ECF50-AF0B-4128-A74E-58563BC137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505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1789AB2-FBE8-45E5-AADE-76303D56EB1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DAECF50-AF0B-4128-A74E-58563BC137F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361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6C812-11E7-4584-961A-A422296331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정성호 </a:t>
            </a:r>
            <a:r>
              <a:rPr lang="en-US" altLang="ko-KR" dirty="0"/>
              <a:t>SQL </a:t>
            </a:r>
            <a:r>
              <a:rPr lang="ko-KR" altLang="en-US"/>
              <a:t>튜닝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A5ABF7-AF1C-4FC5-83D2-299F35348B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28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AD2EF-4D96-445B-84EF-8207B7E8E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Merge</a:t>
            </a:r>
            <a:r>
              <a:rPr lang="ko-KR" altLang="en-US" dirty="0"/>
              <a:t> </a:t>
            </a:r>
            <a:r>
              <a:rPr lang="en-US" altLang="ko-KR" dirty="0"/>
              <a:t>SQL</a:t>
            </a:r>
            <a:r>
              <a:rPr lang="ko-KR" altLang="en-US" dirty="0"/>
              <a:t> 속도 이슈 발생</a:t>
            </a:r>
            <a:r>
              <a:rPr lang="en-US" altLang="ko-KR" dirty="0"/>
              <a:t>(</a:t>
            </a:r>
            <a:r>
              <a:rPr lang="ko-KR" altLang="en-US" dirty="0"/>
              <a:t>개선 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내용 개체 틀 5">
            <a:extLst>
              <a:ext uri="{FF2B5EF4-FFF2-40B4-BE49-F238E27FC236}">
                <a16:creationId xmlns:a16="http://schemas.microsoft.com/office/drawing/2014/main" id="{9953DAD5-F77A-4696-8FA4-76E49C25C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22463"/>
            <a:ext cx="4469137" cy="4022725"/>
          </a:xfr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E7BAC74-B79B-453D-B221-DA940D148FB9}"/>
              </a:ext>
            </a:extLst>
          </p:cNvPr>
          <p:cNvSpPr/>
          <p:nvPr/>
        </p:nvSpPr>
        <p:spPr>
          <a:xfrm>
            <a:off x="1481667" y="4114800"/>
            <a:ext cx="1930400" cy="169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1DB2E5-8644-43DF-BBDE-0784CB8F8F53}"/>
              </a:ext>
            </a:extLst>
          </p:cNvPr>
          <p:cNvSpPr txBox="1"/>
          <p:nvPr/>
        </p:nvSpPr>
        <p:spPr>
          <a:xfrm>
            <a:off x="6578600" y="2099733"/>
            <a:ext cx="4749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다수 건에 대한 수정 및 저장하는 </a:t>
            </a:r>
            <a:r>
              <a:rPr lang="en-US" altLang="ko-KR" dirty="0"/>
              <a:t>SQL</a:t>
            </a:r>
            <a:r>
              <a:rPr lang="ko-KR" altLang="en-US" dirty="0" err="1"/>
              <a:t>로실행</a:t>
            </a:r>
            <a:r>
              <a:rPr lang="ko-KR" altLang="en-US" dirty="0"/>
              <a:t> 시 약 </a:t>
            </a:r>
            <a:r>
              <a:rPr lang="en-US" altLang="ko-KR" dirty="0"/>
              <a:t>6</a:t>
            </a:r>
            <a:r>
              <a:rPr lang="ko-KR" altLang="en-US" dirty="0" err="1"/>
              <a:t>만건의</a:t>
            </a:r>
            <a:r>
              <a:rPr lang="ko-KR" altLang="en-US" dirty="0"/>
              <a:t> </a:t>
            </a:r>
            <a:r>
              <a:rPr lang="en-US" altLang="ko-KR" dirty="0"/>
              <a:t>merge</a:t>
            </a:r>
            <a:r>
              <a:rPr lang="ko-KR" altLang="en-US" dirty="0"/>
              <a:t>문 발생 저장하는 속도 </a:t>
            </a:r>
            <a:r>
              <a:rPr lang="en-US" altLang="ko-KR" dirty="0"/>
              <a:t>5</a:t>
            </a:r>
            <a:r>
              <a:rPr lang="ko-KR" altLang="en-US" dirty="0" err="1"/>
              <a:t>분이상</a:t>
            </a:r>
            <a:r>
              <a:rPr lang="ko-KR" altLang="en-US" dirty="0"/>
              <a:t> 소요로 </a:t>
            </a:r>
            <a:r>
              <a:rPr lang="en-US" altLang="ko-KR" dirty="0" err="1"/>
              <a:t>TimeOut</a:t>
            </a:r>
            <a:r>
              <a:rPr lang="en-US" altLang="ko-KR" dirty="0"/>
              <a:t> </a:t>
            </a:r>
            <a:r>
              <a:rPr lang="ko-KR" altLang="en-US" dirty="0"/>
              <a:t>에러발생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Merge</a:t>
            </a:r>
            <a:r>
              <a:rPr lang="ko-KR" altLang="en-US" dirty="0"/>
              <a:t>문 자체에도 해당 테이블에 대한 </a:t>
            </a:r>
            <a:r>
              <a:rPr lang="en-US" altLang="ko-KR" dirty="0"/>
              <a:t>index </a:t>
            </a:r>
            <a:r>
              <a:rPr lang="ko-KR" altLang="en-US" dirty="0"/>
              <a:t>파라미터를 모두 가지고 있음에도 조건절에 </a:t>
            </a:r>
            <a:r>
              <a:rPr lang="ko-KR" altLang="en-US" dirty="0" err="1"/>
              <a:t>빠져있음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0470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5971C6-F626-4D33-8FF7-926130756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Merge</a:t>
            </a:r>
            <a:r>
              <a:rPr lang="ko-KR" altLang="en-US" dirty="0"/>
              <a:t> </a:t>
            </a:r>
            <a:r>
              <a:rPr lang="en-US" altLang="ko-KR" dirty="0"/>
              <a:t>SQL</a:t>
            </a:r>
            <a:r>
              <a:rPr lang="ko-KR" altLang="en-US" dirty="0"/>
              <a:t> 속도 이슈 발생</a:t>
            </a:r>
            <a:r>
              <a:rPr lang="en-US" altLang="ko-KR" dirty="0"/>
              <a:t>(</a:t>
            </a:r>
            <a:r>
              <a:rPr lang="ko-KR" altLang="en-US" dirty="0"/>
              <a:t>개선 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0" name="내용 개체 틀 19">
            <a:extLst>
              <a:ext uri="{FF2B5EF4-FFF2-40B4-BE49-F238E27FC236}">
                <a16:creationId xmlns:a16="http://schemas.microsoft.com/office/drawing/2014/main" id="{4174CBCB-00AA-4E01-B24B-1FB10CCCE4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68" y="1846263"/>
            <a:ext cx="4895301" cy="4022725"/>
          </a:xfrm>
        </p:spPr>
      </p:pic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3508FEAE-2E6A-48CC-A6CC-6292CA416F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excute.bacth</a:t>
            </a:r>
            <a:r>
              <a:rPr lang="en-US" altLang="ko-KR" dirty="0"/>
              <a:t>() </a:t>
            </a:r>
            <a:r>
              <a:rPr lang="ko-KR" altLang="en-US" dirty="0"/>
              <a:t>를 활용 </a:t>
            </a:r>
            <a:r>
              <a:rPr lang="en-US" altLang="ko-KR" dirty="0"/>
              <a:t>5</a:t>
            </a:r>
            <a:r>
              <a:rPr lang="ko-KR" altLang="en-US" dirty="0" err="1"/>
              <a:t>천건씩</a:t>
            </a:r>
            <a:r>
              <a:rPr lang="ko-KR" altLang="en-US" dirty="0"/>
              <a:t> 묶어 </a:t>
            </a:r>
            <a:r>
              <a:rPr lang="en-US" altLang="ko-KR" dirty="0"/>
              <a:t>SQL </a:t>
            </a:r>
            <a:r>
              <a:rPr lang="ko-KR" altLang="en-US" dirty="0"/>
              <a:t>실행</a:t>
            </a:r>
            <a:endParaRPr lang="en-US" altLang="ko-KR" dirty="0"/>
          </a:p>
          <a:p>
            <a:r>
              <a:rPr lang="en-US" altLang="ko-KR" dirty="0"/>
              <a:t>2. merge</a:t>
            </a:r>
            <a:r>
              <a:rPr lang="ko-KR" altLang="en-US" dirty="0"/>
              <a:t>문 내에서 비효율을 줄이기 위해 인덱스 컬럼 조건절에 추가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(5</a:t>
            </a:r>
            <a:r>
              <a:rPr lang="ko-KR" altLang="en-US" dirty="0" err="1"/>
              <a:t>분이상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초로 단축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CF5D7A-3AE8-4E18-A9F8-110F4F32D53D}"/>
              </a:ext>
            </a:extLst>
          </p:cNvPr>
          <p:cNvSpPr/>
          <p:nvPr/>
        </p:nvSpPr>
        <p:spPr>
          <a:xfrm>
            <a:off x="1635918" y="4114800"/>
            <a:ext cx="1930400" cy="169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84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79BD3-7A4C-49D4-B325-AE78C98EB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비효율 </a:t>
            </a:r>
            <a:r>
              <a:rPr lang="en-US" altLang="ko-KR" dirty="0"/>
              <a:t>SELECT SQL1 (</a:t>
            </a:r>
            <a:r>
              <a:rPr lang="ko-KR" altLang="en-US" dirty="0"/>
              <a:t>개선 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E09B612-607E-4CBC-9BC1-A843288B9F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846263"/>
            <a:ext cx="5059363" cy="4022725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55E93D94-5254-465C-B8DB-13BF6B7D0C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96963" y="1891364"/>
            <a:ext cx="4938712" cy="393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19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79BD3-7A4C-49D4-B325-AE78C98EB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비효율 </a:t>
            </a:r>
            <a:r>
              <a:rPr lang="en-US" altLang="ko-KR" dirty="0"/>
              <a:t>SELECT SQL1 (</a:t>
            </a:r>
            <a:r>
              <a:rPr lang="ko-KR" altLang="en-US" dirty="0"/>
              <a:t>개선 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4958B3-670F-48DE-9082-EF8C22E6BF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F56365-C4A0-4BF1-A3CC-F766733A4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18" y="1845734"/>
            <a:ext cx="4998721" cy="4023254"/>
          </a:xfrm>
          <a:prstGeom prst="rect">
            <a:avLst/>
          </a:prstGeom>
        </p:spPr>
      </p:pic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3922624B-78EA-4E81-BCE9-787DCB22CA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CCC383-6E95-4AF9-82E7-BB8D98A63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45734"/>
            <a:ext cx="5406771" cy="40232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41D9AF-ECE5-4B03-91E1-7A96345B05CB}"/>
              </a:ext>
            </a:extLst>
          </p:cNvPr>
          <p:cNvSpPr txBox="1"/>
          <p:nvPr/>
        </p:nvSpPr>
        <p:spPr>
          <a:xfrm>
            <a:off x="6883400" y="4775199"/>
            <a:ext cx="5308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</a:rPr>
              <a:t>Buffers : 303K(303 * 1,024 = 301,272) → 147 (310,125 </a:t>
            </a:r>
            <a:r>
              <a:rPr lang="ko-KR" altLang="en-US" sz="1000" dirty="0">
                <a:solidFill>
                  <a:schemeClr val="bg1"/>
                </a:solidFill>
              </a:rPr>
              <a:t>감소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  <a:p>
            <a:r>
              <a:rPr lang="ko-KR" altLang="en-US" sz="1000" dirty="0">
                <a:solidFill>
                  <a:schemeClr val="bg1"/>
                </a:solidFill>
              </a:rPr>
              <a:t>조회시간 </a:t>
            </a:r>
            <a:r>
              <a:rPr lang="en-US" altLang="ko-KR" sz="1000" dirty="0">
                <a:solidFill>
                  <a:schemeClr val="bg1"/>
                </a:solidFill>
              </a:rPr>
              <a:t>: 0.98sec → 0.005sec</a:t>
            </a:r>
            <a:endParaRPr lang="ko-KR" altLang="en-US" sz="1000" dirty="0">
              <a:solidFill>
                <a:schemeClr val="bg1"/>
              </a:solidFill>
            </a:endParaRPr>
          </a:p>
          <a:p>
            <a:r>
              <a:rPr lang="ko-KR" altLang="en-US" sz="1000" dirty="0">
                <a:solidFill>
                  <a:schemeClr val="bg1"/>
                </a:solidFill>
              </a:rPr>
              <a:t>해결방법 </a:t>
            </a:r>
            <a:r>
              <a:rPr lang="en-US" altLang="ko-KR" sz="1000" dirty="0">
                <a:solidFill>
                  <a:schemeClr val="bg1"/>
                </a:solidFill>
              </a:rPr>
              <a:t>: SQL </a:t>
            </a:r>
            <a:r>
              <a:rPr lang="ko-KR" altLang="en-US" sz="1000" dirty="0">
                <a:solidFill>
                  <a:schemeClr val="bg1"/>
                </a:solidFill>
              </a:rPr>
              <a:t>재구성 처리 </a:t>
            </a:r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중요 </a:t>
            </a:r>
            <a:r>
              <a:rPr lang="en-US" altLang="ko-KR" sz="1000" dirty="0">
                <a:solidFill>
                  <a:schemeClr val="bg1"/>
                </a:solidFill>
              </a:rPr>
              <a:t>SELECT LIST</a:t>
            </a:r>
            <a:r>
              <a:rPr lang="ko-KR" altLang="en-US" sz="1000" dirty="0">
                <a:solidFill>
                  <a:schemeClr val="bg1"/>
                </a:solidFill>
              </a:rPr>
              <a:t>가 </a:t>
            </a:r>
            <a:r>
              <a:rPr lang="ko-KR" altLang="en-US" sz="1000" dirty="0" err="1">
                <a:solidFill>
                  <a:schemeClr val="bg1"/>
                </a:solidFill>
              </a:rPr>
              <a:t>한건이기에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ko-KR" altLang="en-US" sz="1000" dirty="0" err="1">
                <a:solidFill>
                  <a:schemeClr val="bg1"/>
                </a:solidFill>
              </a:rPr>
              <a:t>스칼라서브쿼리로</a:t>
            </a:r>
            <a:r>
              <a:rPr lang="ko-KR" altLang="en-US" sz="1000" dirty="0">
                <a:solidFill>
                  <a:schemeClr val="bg1"/>
                </a:solidFill>
              </a:rPr>
              <a:t> 변경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나머지 </a:t>
            </a:r>
            <a:r>
              <a:rPr lang="en-US" altLang="ko-KR" sz="1000" dirty="0">
                <a:solidFill>
                  <a:schemeClr val="bg1"/>
                </a:solidFill>
              </a:rPr>
              <a:t>SELECT LIST</a:t>
            </a:r>
            <a:r>
              <a:rPr lang="ko-KR" altLang="en-US" sz="1000" dirty="0">
                <a:solidFill>
                  <a:schemeClr val="bg1"/>
                </a:solidFill>
              </a:rPr>
              <a:t>는 파라미터로 변경</a:t>
            </a:r>
          </a:p>
          <a:p>
            <a:r>
              <a:rPr lang="ko-KR" altLang="en-US" sz="1000" dirty="0">
                <a:solidFill>
                  <a:schemeClr val="bg1"/>
                </a:solidFill>
              </a:rPr>
              <a:t>          </a:t>
            </a:r>
            <a:r>
              <a:rPr lang="ko-KR" altLang="en-US" sz="1000" dirty="0" err="1">
                <a:solidFill>
                  <a:schemeClr val="bg1"/>
                </a:solidFill>
              </a:rPr>
              <a:t>설계차수</a:t>
            </a:r>
            <a:r>
              <a:rPr lang="ko-KR" altLang="en-US" sz="1000" dirty="0">
                <a:solidFill>
                  <a:schemeClr val="bg1"/>
                </a:solidFill>
              </a:rPr>
              <a:t> 파라미터 추가 </a:t>
            </a:r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세션정보에서 가져올 수 있는 정보이기에 추가함</a:t>
            </a:r>
          </a:p>
          <a:p>
            <a:r>
              <a:rPr lang="ko-KR" altLang="en-US" sz="1000" dirty="0">
                <a:solidFill>
                  <a:schemeClr val="bg1"/>
                </a:solidFill>
              </a:rPr>
              <a:t>        </a:t>
            </a:r>
            <a:r>
              <a:rPr lang="en-US" altLang="ko-KR" sz="1000" dirty="0">
                <a:solidFill>
                  <a:schemeClr val="bg1"/>
                </a:solidFill>
              </a:rPr>
              <a:t>FBI </a:t>
            </a:r>
            <a:r>
              <a:rPr lang="ko-KR" altLang="en-US" sz="1000" dirty="0">
                <a:solidFill>
                  <a:schemeClr val="bg1"/>
                </a:solidFill>
              </a:rPr>
              <a:t>인덱스</a:t>
            </a: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en-US" altLang="ko-KR" sz="1000" dirty="0" err="1">
                <a:solidFill>
                  <a:schemeClr val="bg1"/>
                </a:solidFill>
              </a:rPr>
              <a:t>substr</a:t>
            </a: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en-US" altLang="ko-KR" sz="1000" dirty="0" err="1">
                <a:solidFill>
                  <a:schemeClr val="bg1"/>
                </a:solidFill>
              </a:rPr>
              <a:t>nmstScrinId</a:t>
            </a:r>
            <a:r>
              <a:rPr lang="en-US" altLang="ko-KR" sz="1000" dirty="0">
                <a:solidFill>
                  <a:schemeClr val="bg1"/>
                </a:solidFill>
              </a:rPr>
              <a:t>, 0, 7))</a:t>
            </a:r>
            <a:r>
              <a:rPr lang="ko-KR" altLang="en-US" sz="1000" dirty="0">
                <a:solidFill>
                  <a:schemeClr val="bg1"/>
                </a:solidFill>
              </a:rPr>
              <a:t>를 추가하여 </a:t>
            </a:r>
            <a:r>
              <a:rPr lang="en-US" altLang="ko-KR" sz="1000" dirty="0">
                <a:solidFill>
                  <a:schemeClr val="bg1"/>
                </a:solidFill>
              </a:rPr>
              <a:t>NL </a:t>
            </a:r>
            <a:r>
              <a:rPr lang="ko-KR" altLang="en-US" sz="1000" dirty="0">
                <a:solidFill>
                  <a:schemeClr val="bg1"/>
                </a:solidFill>
              </a:rPr>
              <a:t>조인 유도</a:t>
            </a: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936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79BD3-7A4C-49D4-B325-AE78C98EB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비효율 </a:t>
            </a:r>
            <a:r>
              <a:rPr lang="en-US" altLang="ko-KR" dirty="0"/>
              <a:t>SELECT SQL2 (</a:t>
            </a:r>
            <a:r>
              <a:rPr lang="ko-KR" altLang="en-US" dirty="0"/>
              <a:t>개선 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9AA67691-8774-4410-8B65-CAAFC4B3B4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C482658-99D1-499F-B8BE-72464805B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45734"/>
            <a:ext cx="4937760" cy="4022725"/>
          </a:xfrm>
          <a:prstGeom prst="rect">
            <a:avLst/>
          </a:prstGeom>
        </p:spPr>
      </p:pic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7F829343-BCFA-41BF-969E-2FCA071663E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36320" y="1846263"/>
            <a:ext cx="4937760" cy="402272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639D9D-D825-4E50-BAE8-F2731D4CB675}"/>
              </a:ext>
            </a:extLst>
          </p:cNvPr>
          <p:cNvSpPr/>
          <p:nvPr/>
        </p:nvSpPr>
        <p:spPr>
          <a:xfrm>
            <a:off x="6326452" y="3429000"/>
            <a:ext cx="4829228" cy="2116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34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21D0CFD-70A9-4222-A910-CC9A47F40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8" y="1845733"/>
            <a:ext cx="4937760" cy="402325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523A832-D718-40E1-BBD9-3FAA20109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1" y="1845733"/>
            <a:ext cx="4937760" cy="402325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79BD3-7A4C-49D4-B325-AE78C98EB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비효율 </a:t>
            </a:r>
            <a:r>
              <a:rPr lang="en-US" altLang="ko-KR" dirty="0"/>
              <a:t>SELECT SQL2 (</a:t>
            </a:r>
            <a:r>
              <a:rPr lang="ko-KR" altLang="en-US" dirty="0"/>
              <a:t>개선 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4958B3-670F-48DE-9082-EF8C22E6BF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1D9AF-ECE5-4B03-91E1-7A96345B05CB}"/>
              </a:ext>
            </a:extLst>
          </p:cNvPr>
          <p:cNvSpPr txBox="1"/>
          <p:nvPr/>
        </p:nvSpPr>
        <p:spPr>
          <a:xfrm>
            <a:off x="1205655" y="5037989"/>
            <a:ext cx="530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Buffers : 124K(124 * 1,024 = 126,976) → 252 (126,724 </a:t>
            </a:r>
            <a:r>
              <a:rPr lang="ko-KR" altLang="en-US" sz="1200" dirty="0">
                <a:solidFill>
                  <a:schemeClr val="bg1"/>
                </a:solidFill>
              </a:rPr>
              <a:t>감소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endParaRPr lang="ko-KR" altLang="en-US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조회시간 </a:t>
            </a:r>
            <a:r>
              <a:rPr lang="en-US" altLang="ko-KR" sz="1200" dirty="0">
                <a:solidFill>
                  <a:schemeClr val="bg1"/>
                </a:solidFill>
              </a:rPr>
              <a:t>: 0.50sec → 0.01sec</a:t>
            </a:r>
            <a:endParaRPr lang="ko-KR" altLang="en-US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해결방법 </a:t>
            </a:r>
            <a:r>
              <a:rPr lang="en-US" altLang="ko-KR" sz="1200" dirty="0">
                <a:solidFill>
                  <a:schemeClr val="bg1"/>
                </a:solidFill>
              </a:rPr>
              <a:t>:</a:t>
            </a:r>
            <a:r>
              <a:rPr lang="ko-KR" altLang="en-US" sz="1200" dirty="0" err="1">
                <a:solidFill>
                  <a:schemeClr val="bg1"/>
                </a:solidFill>
              </a:rPr>
              <a:t>스칼라서브쿼리</a:t>
            </a:r>
            <a:r>
              <a:rPr lang="ko-KR" altLang="en-US" sz="1200" dirty="0">
                <a:solidFill>
                  <a:schemeClr val="bg1"/>
                </a:solidFill>
              </a:rPr>
              <a:t> 부분에서 </a:t>
            </a:r>
            <a:r>
              <a:rPr lang="en-US" altLang="ko-KR" sz="1200" dirty="0">
                <a:solidFill>
                  <a:schemeClr val="bg1"/>
                </a:solidFill>
              </a:rPr>
              <a:t>UNIQUE SCAN</a:t>
            </a:r>
            <a:r>
              <a:rPr lang="ko-KR" altLang="en-US" sz="1200" dirty="0">
                <a:solidFill>
                  <a:schemeClr val="bg1"/>
                </a:solidFill>
              </a:rPr>
              <a:t>이 되야 하는데 </a:t>
            </a:r>
            <a:r>
              <a:rPr lang="en-US" altLang="ko-KR" sz="1200" dirty="0">
                <a:solidFill>
                  <a:schemeClr val="bg1"/>
                </a:solidFill>
              </a:rPr>
              <a:t>SKIP SCAN</a:t>
            </a:r>
            <a:r>
              <a:rPr lang="ko-KR" altLang="en-US" sz="1200" dirty="0">
                <a:solidFill>
                  <a:schemeClr val="bg1"/>
                </a:solidFill>
              </a:rPr>
              <a:t>으로 조회되어 </a:t>
            </a:r>
            <a:r>
              <a:rPr lang="en-US" altLang="ko-KR" sz="1200" dirty="0">
                <a:solidFill>
                  <a:schemeClr val="bg1"/>
                </a:solidFill>
              </a:rPr>
              <a:t>UNIQUE SCAN</a:t>
            </a:r>
            <a:r>
              <a:rPr lang="ko-KR" altLang="en-US" sz="1200" dirty="0">
                <a:solidFill>
                  <a:schemeClr val="bg1"/>
                </a:solidFill>
              </a:rPr>
              <a:t>이 타도록 </a:t>
            </a:r>
            <a:r>
              <a:rPr lang="ko-KR" altLang="en-US" sz="1200" dirty="0" err="1">
                <a:solidFill>
                  <a:schemeClr val="bg1"/>
                </a:solidFill>
              </a:rPr>
              <a:t>조건절</a:t>
            </a:r>
            <a:r>
              <a:rPr lang="ko-KR" altLang="en-US" sz="1200" dirty="0">
                <a:solidFill>
                  <a:schemeClr val="bg1"/>
                </a:solidFill>
              </a:rPr>
              <a:t> 추가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7DAD53-1826-4183-B31C-4ED768343C55}"/>
              </a:ext>
            </a:extLst>
          </p:cNvPr>
          <p:cNvSpPr/>
          <p:nvPr/>
        </p:nvSpPr>
        <p:spPr>
          <a:xfrm>
            <a:off x="6326452" y="3488268"/>
            <a:ext cx="4829228" cy="237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96885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</TotalTime>
  <Words>244</Words>
  <Application>Microsoft Office PowerPoint</Application>
  <PresentationFormat>와이드스크린</PresentationFormat>
  <Paragraphs>20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Calibri</vt:lpstr>
      <vt:lpstr>Calibri Light</vt:lpstr>
      <vt:lpstr>추억</vt:lpstr>
      <vt:lpstr>정성호 SQL 튜닝</vt:lpstr>
      <vt:lpstr>Merge SQL 속도 이슈 발생(개선 후)</vt:lpstr>
      <vt:lpstr>Merge SQL 속도 이슈 발생(개선 전)</vt:lpstr>
      <vt:lpstr>비효율 SELECT SQL1 (개선 전)</vt:lpstr>
      <vt:lpstr>비효율 SELECT SQL1 (개선 후)</vt:lpstr>
      <vt:lpstr>비효율 SELECT SQL2 (개선 전)</vt:lpstr>
      <vt:lpstr>비효율 SELECT SQL2 (개선 후)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ocean</dc:creator>
  <cp:lastModifiedBy>ocean</cp:lastModifiedBy>
  <cp:revision>6</cp:revision>
  <dcterms:created xsi:type="dcterms:W3CDTF">2025-11-10T04:02:02Z</dcterms:created>
  <dcterms:modified xsi:type="dcterms:W3CDTF">2025-11-10T04:36:17Z</dcterms:modified>
</cp:coreProperties>
</file>